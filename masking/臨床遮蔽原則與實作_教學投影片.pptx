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3E8E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2200" u="none">
                    <a:solidFill>
                      <a:srgbClr val="1E2A2E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642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TDH-49 250</c:v>
                  </c:pt>
                  <c:pt idx="1">
                    <c:v>TDH-49 1k</c:v>
                  </c:pt>
                  <c:pt idx="2">
                    <c:v>TDH-49 4k</c:v>
                  </c:pt>
                  <c:pt idx="3">
                    <c:v>ER-3A 250</c:v>
                  </c:pt>
                  <c:pt idx="4">
                    <c:v>ER-3A 1k</c:v>
                  </c:pt>
                  <c:pt idx="5">
                    <c:v>ER-3A 4k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62</c:v>
                </c:pt>
                <c:pt idx="2">
                  <c:v>65</c:v>
                </c:pt>
                <c:pt idx="3">
                  <c:v>89</c:v>
                </c:pt>
                <c:pt idx="4">
                  <c:v>81</c:v>
                </c:pt>
                <c:pt idx="5">
                  <c:v>77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2200" u="none">
                  <a:solidFill>
                    <a:srgbClr val="1E2A2E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E2A2E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7A8A9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閾值</c:v>
                </c:pt>
              </c:strCache>
            </c:strRef>
          </c:tx>
          <c:spPr>
            <a:solidFill>
              <a:srgbClr val="3E8E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2200" u="none">
                    <a:solidFill>
                      <a:srgbClr val="1E2A2E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E8E9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642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未遮蔽</c:v>
                  </c:pt>
                  <c:pt idx="1">
                    <c:v>噪音 20</c:v>
                  </c:pt>
                  <c:pt idx="2">
                    <c:v>30</c:v>
                  </c:pt>
                  <c:pt idx="3">
                    <c:v>35</c:v>
                  </c:pt>
                  <c:pt idx="4">
                    <c:v>50</c:v>
                  </c:pt>
                  <c:pt idx="5">
                    <c:v>65</c:v>
                  </c:pt>
                  <c:pt idx="6">
                    <c:v>75</c:v>
                  </c:pt>
                  <c:pt idx="7">
                    <c:v>90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  <c:pt idx="6">
                  <c:v>85</c:v>
                </c:pt>
                <c:pt idx="7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2200" u="none">
                  <a:solidFill>
                    <a:srgbClr val="1E2A2E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E2A2E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7A8A9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5 分鐘。說明本單元之定位：遮蔽為純音與語音聽力檢查能否得到有效結果之前提。本單元以原書第 9 章為依據，判準數值與公式均依原書；講義中標註「編者補充」者為一般臨床慣例。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時間配置：開場 5｜單元一 25｜單元二 30｜休息 10｜單元三 35｜單元四 40｜休息 5｜單元五 20｜總結 10。單元四之高原判讀與過度遮蔽計算為臨床最易出錯、亦為考試常見題型，故配置最長時間。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學習目標共八項，完整版見講義。此處擇要六項。每項目標皆對應單元末之演練或隨堂測驗。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單元一：00:05–00:30。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定義：目前受測之耳為測試耳 TE，對側為非測試耳 NTE。只要「可能發生」跨耳聽覺，測驗結果即不可信。判斷是否需要遮蔽，等同判斷是否可能發生跨耳聽覺。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以此例說明跨耳聽覺之臨床後果：若未遮蔽，將把全聾耳誤判為中度聽損，左右骨導相同亦會誤導聽損類型之判斷。遮蔽後之閾值以不同符號記錄。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範例：IA 50 dB、右耳骨導 10 dB HL。左耳 60 dB → 到右耳 10 dB HL，跨耳聽覺；80 dB → 30 dB HL，跨耳聽覺；55 dB → 5 dB HL，低於閾值，僅有跨越。IA 一詞見 Chaiklin（1967）。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直覺上以為是聲音從耳罩漏出繞到對側，或經頭帶傳到對側耳機；研究一再證實主要途徑為骨導（Sparrevohn 1946；Zwislocki 1953；Studebaker 1962）。此點直接決定氣導遮蔽規則的寫法。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數值依原書 Fig. 9.5 估讀之平均值，僅供比較趨勢。插入式耳機 ≤1000 Hz 平均 81–94+ dB，&gt;1000 Hz 71–77 dB。最小值：插入式 ≤1000 Hz 75–85 dB、&gt;1000 Hz 50–65 dB；TDH-49 為 45–60 dB。IA 與接觸面積成反比（Zwislocki 1953）。插入深度不足時 IA 大幅下降（Killion et al. 1985）。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耳罩式平均約 50–65 dB，但範圍極廣，若用平均值將漏掉 IA 偏低者，故採 40 dB（Studebaker 1967；Martin 1974, 1980）。骨導：前額約 0 dB；乳突 250 Hz 約 0 dB 至 4000 Hz 約 15 dB，個體差異 0–15 dB（Studebaker 1967；Silman &amp; Silverman 1991）。臨床視骨導 IA 為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預期答案：IA 40 → 20 dB HL，跨耳聽覺；IA 50 → 10 dB HL，跨耳聽覺；IA 60 → 0 dB HL，僅跨越。收尾：個人 IA 未知，故須以最小值做保守判斷。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單元二：00:30–01:00。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類比：驗光時遮住一眼。術語：unmasked air/bone 為未加噪音所得；masked air/bone 為對側加噪音所得，例如 masked right air 指左耳給噪音時之右耳氣導。施測前應先向個案說明，初次受測者常對「耳中有噪音」感到困惑，以遮眼類比多能理解。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取得未遮蔽閾值時先氣導後骨導；遮蔽重測時順序相反。理由：氣導遮蔽之判斷需要非測試耳之真實骨導閾值，因此骨導必須先完成遮蔽。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文獻差異：本書現行版與 Yacullo（1996, 2009）採 &gt; 10 dB；Studebaker（1964）與 ASHA（2005）採 ≥ 10 dB。原書第三版曾採 ASHA 標準，現行版回到 &gt; 10 dB。判斷邏輯：骨導 IA 近 0，幾乎永遠不知道哪一耳在回應，因此只在「哪一耳回應會改變判讀」時才遮蔽。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此範例取自原書。強調骨導遮蔽之判斷是逐耳、逐頻率進行。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ANSI（2004）曾以骨導校正資料係在對側遮蔽下取得為由，建議骨導一律遮蔽。原書不建議，理由如上。Weber 測驗之支持者亦建議忽略不合理之結果（Studebaker 1967）。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三項參數：TE 呈現強度、IA、NTE 真實骨導閾值。此差值稱 air-opposite-bone-gap（AOBG）或 air-contralateral-bone-gap（ACBG）。逐頻率比較（通常 250–4000 Hz）。例外：NTE 氣導優於其骨導（例 AC 10、BC 20）時，以較佳之氣導代入。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三例均取自原書。第二例 35 dB 未達 40 dB，右耳 50 dB HL 即為真實閾值。第三例恰為 40 dB，符合 ≥ 40 之判準。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發給一張未遮蔽聽力圖：右耳感音性、左耳混合性，兩耳 2000 Hz 氣導相差 45 dB。預期易錯點：(1) 以兩耳氣導相減；(2) 先判斷氣導、未先確定骨導；(3) 忽略 NTE 氣導優於骨導之例外。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01:00–01:10。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單元三：01:10–01:45。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寬頻噪音中臨界頻帶外之能量不增加遮蔽，只讓噪音更大聲。聽力計 NBN 頻寬略寬於臨界頻帶，可能為 1/3、1/2 八度。鋸齒波等複合噪音為舊式做法，遮蔽效果差且不穩定，僅需知道歷史。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噪音與訊號分屬兩耳且無跨越時，兩耳神經訊號在中樞聽覺神經系統整合而干擾。文獻報告可達 15 dB，且隨噪音強度增加（Liden et al. 1959b；Studebaker 1962；Dirks 1964）。此現象並非臨床遮蔽所要的效果，反而使判讀複雜化。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ANSI S3.6-2010 表 9.2：加於 RETSPL 之校正值，1/3 八度 NBN 4–6 dB，1/2 八度 NBN 4–8 dB，依頻率而異。即使設備已標示 dB EM，臨床人員仍須確認實際達到有效遮蔽。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原書作者認為 MEMC 一詞較易理解：它是加在純音級數上，以得到「最小有效噪音級」之校正值。本單元計算一律假設 MEMC = 5 dB；實際應依各頻率、各設備之驗證結果。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步驟：雙通道聽力計，兩通道導入同一耳機。噪音持續開啟，在噪音中找純音閾值（脈衝音較易聽辨），再以 5 dB 下降至剛好被遮蔽。例：35 dB 時被遮蔽 → 40 dB 噪音需比純音高 5 dB。每人重複數次，至少 10 位正常人。其他方法：Veniar（1965）個別病人法；電聲法（Sanders 1972；Townsend &amp; Schwartz 1976）。本地實務：所得 MEMC 宜納入院所品管紀錄並張貼於檢查室（編者補充）。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原書理由：因 MEMC 為一群正常人之平均值，對部分個案而言可能不足，故加 10 dB。編者補充：SF 並非愈大愈好，噪音愈高愈接近過度遮蔽量，高原範圍隨之縮窄；10 dB 為兩者間之慣用折衷。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過度遮蔽公式含 MEMC 的理由見單元四。不含 SF 為編者依原書推導之說明：此處要找的是最早可能發生過度遮蔽之噪音量。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 Martin（1967, 1974, 1980）之方法。設計邏輯：若 TE 閾值實為 NTE 跨耳聽得，跨到 NTE 之訊號約等於 NTE 閾值；噪音須高出 MEMC 才剛好遮蔽，再加 SF。其他較複雜公式（Liden et al. 1959b；Studebaker 1964）結果相近（Martin 1974）。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耳機覆蓋 NTE 會產生閉塞效應，使 NTE 耳蝸接收之骨導訊號增強。OE 15 dB 時，35 dB HL 骨導訊號在 NTE 耳蝸相當於 50 dB HL；若仍用 50 dB HL 之 IML，只遮得住 35 dB HL，故須加 OE。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Bing 測驗：Martin, Butler, &amp; Burns（1974）。例：未閉塞 35、閉塞 20，OE = 15 dB。附帶效益：(1) 正常與感音性耳多有 OE，傳導性與混合性多無，可作診斷參考；(2) 閉塞後反而變差，提示震動器被頭帶推移。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參考答案：(a) 15 + 5 + 10 = 30 dB HL；(b) 40 + 5 + 10 + 20 = 75 dB HL；(c) NTE 有傳導成分時 OE 為 0，故 40 + 5 + 10 = 55 dB HL。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單元四：01:45–02:25。本節為核心，亦為考試最常命題處。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容許 5 dB 係因中樞遮蔽。邏輯：若音確實由 TE 聽得，在 NTE 加噪音不會改變任何事。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機制：遮蔽不足時純音仍由 NTE 聽得，噪音與純音同在 NTE，遮蔽量隨噪音線性增加；高原時 NTE 已受有效遮蔽，TE 以自身閾值回應，亦稱有效遮蔽範圍；過度遮蔽時噪音跨至 TE。視覺類比：以紙片遮右眼，紙片夠大後再加大不影響左眼，大到連左眼也遮住才改變結果。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未遮蔽 50 dB HL；噪音 20 dB 時 60；20 → 35 dB 為遮蔽不足，閾值一對一上升；35–65 dB 為高原，閾值維持 75 dB HL，此即真實閾值；之後為過度遮蔽。數值依原圖估讀。編者補充：常見操作為閾值上升時將純音升至新閾值再提高噪音（5–10 dB 一階），噪音連續增加 15–20 dB 而閾值不變即判定為高原。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高原愈寬，對遮蔽閾值之信心愈高；過窄之高原可能於施測中被跳過。確無高原時註記 no plateau 或 could not 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前兩項增加噪音到達並遮蔽 TE 耳蝸之機會；後兩項使所需噪音量提高。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 Fig. 9.11。若 65 dB 時閾值再升 15 dB 至 90，則噪音再加 15 為 80 dB 重測，直到確認高原或達最大量。骨導：IML 取「未遮蔽骨導 + 30」或流程計算值之較高者，可涵蓋最高約 20 dB 之 OE（Turner 2004b）。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過度遮蔽：噪音跨越頭部遮蔽 TE，臨床人員隨之提高純音，所得閾值為假性升高。常用簡化版為 MN_N ≥ IA + BC_T（Martin 1991），此時噪音僅恰被 TE 聽到；依 MEMC 定義須再高 MEMC 才遮得住，故原書採含 MEMC 之版本。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不致造成過度遮蔽之最高噪音量，為最低過度遮蔽量再減一個衰減器步階（5 dB）。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原書範例：右 AC/BC 50（已遮蔽），左 AC 25、左 BC 10（需遮蔽）。IA 40 時 65 − 40 = 25 dB HL 到達左耳蝸，遠超過其 10 dB HL 骨導。若右耳另有 15 dB OE，IML 升至 80，即使 IA 高達 65 dB 亦過度遮蔽（80 ≥ 65 + 10 + 5）。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此為 Hood 原始描述之做法。過度遮蔽之疑慮應以實際嘗試證實，而非僅憑計算即放棄。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 Fig. 9.10。於初始遮蔽量即過度遮蔽，無從判斷閾值移動之原因。對策：改用插入式耳機以增加 IA、降低 OE；必要時參考 SAL 測驗。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參考答案：(1) 40 + 20 + 5 = 65 dB HL；MML 60 dB HL。(2) IML = 70 − 10 = 60；移動 15 dB，下一噪音 75 dB。(3) 70 + 10 + 5 = 85 &gt; 65，不致過度遮蔽。收尾強調插入式耳機之效益。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02:25–02:30。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單元五：02:30–02:50。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原書 Fig. 9.12。須確認耳機頭帶未推移震動器頭帶。向個案說明三點：(1) 擺法係刻意安排；(2) 盡量保持不動；(3) 任何配件滑動立即告知。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例：500 Hz 戴耳機前後相同，可能是放置良好且無 OE，也可能是放置變差 15 dB 恰被 15 dB OE 抵銷。故檢查放置須用 1000 Hz 以上。發現問題時重新調整並再檢查。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文獻：Zwislocki 1953；Killion et al. 1985；Sklare &amp; Denenberg 1987；Van Campen et al. 1990。本地實務對照（編者補充）：國內院所換能器配置不一，紀錄應註明所用換能器，判讀時依換能器選用相應最小 IA。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Rainville（1955）首創，Jerger &amp; Tillman（1960）改良。每個氣導閾值測兩次：安靜下，以及前額骨導震動器以最大量給噪音時。先以正常人建立預期移動量（例：1000 Hz 0 → 55）。傳導性：耳蝸正常，移動同正常人 55 dB（50 → 105）；感音性：噪音幾乎聽不到，僅移動 5 dB；混合性：移動 35 dB（50 → 85）。現已少用，遮蔽兩難時可參考。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AOBG 中之「A」改為測試音之呈現強度。閾值測試時 40 − 10 = 30 不需遮蔽，但 Olsen-Noffsinger TDT 從 20 dB SL 開始，即 60 dB HL，60 − 10 = 50 ≥ 40，須遮蔽。若閾值測試時已需遮蔽，閾上測驗亦須遮蔽，且噪音隨測試音同步提高。個人 IA：右耳 5 dB HL、左耳 60 dB HL 才反應，最小 IA 為 55 dB，可取代 40 dB。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 未知時用 40 dB。掃頻 Békésy：頻率持續改變，最佳噪音量也須隨之改變，部分聽力計提供同步變頻 NBN；原書作者認為目前無真正適當之方法。遮蔽之影響：對側噪音可使無適應者出現 tone decay；SISI 分數常升高甚至改變診斷類別；Békésy 類型可能由 I 變 II 或 IV。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語音 IA：耳罩式 48–68 dB；最小 48 支持用 45 dB（Konkle &amp; Berry 1983；Goldstein &amp; Newman 1985），作者偏好 40 dB；插入式 68–84 dB。BC_N：ASHA（1988）建議 500–4000 Hz 之最佳骨導，作者建議低頻明顯較佳時納入 250 Hz。經驗法則：Jerger &amp; Jerger 1971；Hannley 1986；Yacullo 1996, 1999, 2009；適用於對稱感音性及不對稱時遮蔽較佳耳；NTE 有傳導性聽損時不適用。過度遮蔽規則同純音，但採 TE 之最佳骨導。骨導語音 OE：乳突約 6 dB、前額約 9 dB（Klodd &amp; Edgerton 1977）。語音 MEMC 校正：每級 6 或 8 個字詞，5 dB 下降至全錯，至少 10 人平均。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ASCII 流程圖見講義。重點：施測前說明；骨導擺位後先重測未遮蔽骨導；IML 前先核對是否已過度遮蔽；無高原先試較低噪音；遮蔽兩難改插入式或參考 SAL；記錄符號右 AC △、左 AC □、右 BC [、左 BC ]。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預設值：MEMC 5 dB（依頻率與設備實測）、SF 10 dB、中樞遮蔽容許 5 dB、耳罩式最小 IA 40 dB、高原寬度 15–20 dB。完整公式表見講義總結。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完整數據見講義。參考答案：(1) 右耳 ABG 25–45 dB，四頻率骨導皆須遮蔽。(2) 500 Hz 骨導 IML = 15 + 5 + 10 + 15 = 45 dB HL；過度遮蔽起點 40 + 10 + 5 = 55，MML 50，高原空間僅約 5 dB，宜準備插入式耳機。(3) 右 AC：500 Hz 40、1000 Hz 45 dB 須遮蔽，2000、4000 Hz 不須。(4) 單側、疑似傳導成分，省略遮蔽將失去診斷價值，應說明目的取得配合；單側悶塞合併自聲增強且藥物無效，應建議耳鼻喉科就醫。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 10 分鐘：回顧流程圖、綜合案例、隨堂測驗（10 題見講義）。開放提問。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2024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臨床遮蔽原則與實作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Clinical Masking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3977640"/>
            <a:ext cx="1463040" cy="45720"/>
          </a:xfrm>
          <a:prstGeom prst="rect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27939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弘光科技大學　語言治療與聽力學系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73659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臨床聽力學　單元教材｜授課時數 3 小時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5175504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 Gelfand, Essentials of Audiology, Ch. 9 編纂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本單元架構與時間配置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跨耳聽覺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分鐘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685227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8691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8691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遮蔽時機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5851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分鐘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76678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0142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0142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97302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分鐘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68129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593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593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高原與過度遮蔽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88753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分鐘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259580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3044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43044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特殊情境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80204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分鐘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單元四為本單元重點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207568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7568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說明跨耳聽覺與訊號跨越之區別及跨越途徑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986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75386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75386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68986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列舉各換能器之耳間衰減並說明採用最小值之理由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336804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343204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43204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36804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執行骨導與氣導之遮蔽時機判斷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404622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11022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11022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04622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計算初始遮蔽量，並以 Bing 測驗求閉塞效應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77240" y="472440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840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78840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72440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執行高原法並計算過度遮蔽與最大遮蔽量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77240" y="5402580"/>
            <a:ext cx="10637215" cy="562889"/>
          </a:xfrm>
          <a:prstGeom prst="roundRect">
            <a:avLst>
              <a:gd name="adj" fmla="val 19494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" y="5466588"/>
            <a:ext cx="434873" cy="434873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5466588"/>
            <a:ext cx="434873" cy="4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402580"/>
            <a:ext cx="9585655" cy="56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計算閾上純音與語音測驗之遮蔽量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88920" y="160020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跨耳聽覺與耳間衰減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分鐘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3383280"/>
            <a:ext cx="8442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跨耳聽覺與影子曲線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訊號跨越之途徑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氣導與骨導之耳間衰減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跨耳聽覺（cross-hearing）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送至測試耳之聲音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由非測試耳聽到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所得之假閾值曲線稱為影子曲線（shadow curve）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單側全聾個案之未遮蔽與遮蔽結果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右耳正常、左耳全聾（原書 Fig. 9.1）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未遮蔽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左耳出現「假閾值」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左氣導 55–60 dB HL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左骨導與右骨導相同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實為右耳跨耳聽得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右耳加遮蔽後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左耳呈現真實狀態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左氣導無反應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左骨導無反應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與預期結果相符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未遮蔽之左耳結果實際上不可能存在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三個核心名詞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2909" y="22860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92909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訊號跨越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訊號物理上存在於對側耳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60138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58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60138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跨耳聽覺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98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跨越之訊號達到 NTE 閾值而被聽到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43037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8706" y="22860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870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3037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耳間衰減 IA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80197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訊號跨越頭部所損失之 dB 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有跨越，未必有跨耳聽覺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氣導訊號之跨越途徑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耳機振動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測試耳側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46194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29658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468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頭顱傳導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66818" y="37033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骨導途徑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98613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2077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2077" y="2468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對側耳蝸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19237" y="37033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非測試耳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比較對象：測試耳氣導 vs 非測試耳骨導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耳罩式與插入式耳機之平均耳間衰減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Sklare &amp; Denenberg（1987），單位 dB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2011680"/>
          <a:ext cx="1063721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臨床採用之最小耳間衰減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dB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60120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耳罩式耳機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60138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50–85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643018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插入式耳機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依頻率之最小值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43037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dB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8325917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（乳突 0–15 dB）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判斷是否遮蔽一律採最小值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課堂演練｜5 分鐘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右耳骨導 10 dB HL，左耳給 60 dB HL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分別以 IA = 40、50、60 dB 計算到達右耳耳蝸之強度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判斷各情形是否發生跨耳聽覺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兩人一組，完成後與鄰組核對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88920" y="160020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遮蔽時機之判斷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分鐘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3383280"/>
            <a:ext cx="8442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臨床遮蔽之定義與術語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骨導遮蔽規則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氣導遮蔽規則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臨床遮蔽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噪音以氣導送入非測試耳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使其聽不到測試訊號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不論測試耳以氣導或骨導施測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施測順序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未遮蔽 AC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兩耳全部頻率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33090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16554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6554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未遮蔽 BC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3714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兩耳全部頻率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72404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5868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 BC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93028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先判斷、先重測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711717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95181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5181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 AC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32341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依真實 BC_N 判斷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遮蔽重測先骨導、後氣導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骨導遮蔽規則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測試耳 ABG ≥ 15 dB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應遮蔽重測骨導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 ABG &gt; 10 dB。臨床閾值可信度約 ±5 dB，氣骨導可相差 10 dB，ABG ≤ 10 dB 不具臨床意義。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骨導遮蔽判斷範例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 AC 50、左 AC 70、未遮蔽 BC 45 dB HL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 ABG 5 dB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不須遮蔽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 dB 若來自右耳：ABG 過小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若來自左耳：右骨導 ≥ 50，仍屬感音性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兩種情形結論相同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左耳 ABG 25 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須遮蔽重測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遮蔽後左骨導可能介於 45–70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ABG 可能為 25 dB（混合性）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也可能為 0 dB（感音性）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僅在「由哪一耳回應」會改變判讀時才遮蔽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不建議之骨導遮蔽做法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777240"/>
          </a:xfrm>
          <a:prstGeom prst="roundRect">
            <a:avLst>
              <a:gd name="adj" fmla="val 14118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2157984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5798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全部遮蔽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8214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過度保守、費時（Studebaker 1964, 1967）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944368"/>
            <a:ext cx="10637215" cy="777240"/>
          </a:xfrm>
          <a:prstGeom prst="roundRect">
            <a:avLst>
              <a:gd name="adj" fmla="val 14118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3090672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090672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443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無法求 OE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944368"/>
            <a:ext cx="8214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持續被覆蓋，無從得知閉塞效應大小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877056"/>
            <a:ext cx="10637215" cy="777240"/>
          </a:xfrm>
          <a:prstGeom prst="roundRect">
            <a:avLst>
              <a:gd name="adj" fmla="val 14118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4023360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02336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877056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放置問題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3877056"/>
            <a:ext cx="8214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無法交叉檢查震動器放置，耳機頭帶反而加重問題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809744"/>
            <a:ext cx="10637215" cy="777240"/>
          </a:xfrm>
          <a:prstGeom prst="roundRect">
            <a:avLst>
              <a:gd name="adj" fmla="val 14118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4956048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956048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80974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4809744"/>
            <a:ext cx="8214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判斷聽取耳之準確度與可靠度不足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氣導遮蔽規則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AC_T − BC_N ≥ 40 dB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應遮蔽重測氣導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比較測試耳氣導與非測試耳骨導（AOBG），而非兩耳氣導。插入式耳機改用其最小 IA。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氣導遮蔽判斷範例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50 − 5 = 45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 AC 50、左 BC 5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須遮蔽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60138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0138" y="23317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50 − 15 = 35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97298" y="292608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 AC 50、左 BC 15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不須遮蔽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43037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3037" y="23317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75 − 35 = 40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80197" y="292608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 AC 75、左 BC 35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須遮蔽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常見錯誤：以兩耳氣導相減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課堂演練｜6 分鐘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在未遮蔽聽力圖上圈出須遮蔽之點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先逐頻率判斷骨導（ABG ≥ 15）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 NTE 骨導判斷氣導（AOBG ≥ 40）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核對：是否誤用兩耳氣導相減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中間休息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分鐘</a:t>
            </a:r>
            <a:endParaRPr lang="en-US" sz="6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88920" y="160020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遮蔽噪音與初始遮蔽量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分鐘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3383280"/>
            <a:ext cx="8442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遮蔽噪音之選擇與中樞遮蔽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與安全係數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初始遮蔽量與閉塞效應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遮蔽噪音之選擇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窄頻噪音 NBN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以測試頻率為中心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僅臨界頻帶內能量有遮蔽效果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頻寬依 ANSI S3.6-2010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語音、click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寬頻類噪音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白噪音、粉紅噪音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語音頻譜噪音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多人交談噪音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寬頻噪音遮蔽純音：效率低且過大聲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中樞遮蔽（central masking）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對側噪音使閾值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輕微上升約 5 dB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臨床遮蔽時容許 5 dB：閾值移動 ≤ 5 dB 視為未移動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聽得到噪音與能遮蔽純音之區別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NBN 50 dB HL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總強度等同 50 dB HL 純音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僅表示噪音可被聽到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不足以遮蔽 50 dB HL 純音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有效遮蔽 dB 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dB EM 剛好遮蔽 X dB HL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ANSI S3.6-2010 內建校正值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 八度約 4–6 dB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臨床人員仍須自行驗證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最小有效遮蔽校正 MEMC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剛好遮蔽純音之噪音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與該純音之 dB 差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例：55 dB HL 之 NBN 剛好遮蔽 50 dB HL 純音 → MEMC = 5 dB。亦稱有效遮蔽級 EML。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之心理聲學校正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同耳導入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純音與 NBN 同頻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33090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16554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6554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噪音固定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3714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40 dB HL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72404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5868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降至剛好聽不到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93028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dB 一階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711717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95181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5181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人平均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32341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逐頻率取整數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例：500 Hz 平均 8.5 → 10 dB；1000 Hz 平均 4.6 → 5 dB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安全係數（safety factor, SF）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之外再加 10 dB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是平均值，並非眼前個案之實際值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與 SF 於各公式中之角色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MEMC ＋ SF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確保遮蔽足夠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初始遮蔽量（氣導、骨導、SRT）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閾上測驗遮蔽量 MNN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 MEMC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找出最早過度遮蔽點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過度遮蔽起點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最大遮蔽量 MML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噪音到 TE 恰達骨導閾值時僅「聽得到」，再高 MEMC 方遮得住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氣導初始遮蔽量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 = HL_N + MEMC + SF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例：NTE 氣導 20 dB HL → 20 + 5 + 10 = 35 dB HL。HL_N 為非測試耳之氣導閾值。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骨導初始遮蔽量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 = HL_N + MEMC + SF + OE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例：35 + 5 + 10 + 15 = 65 dB HL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閉塞效應之決定方式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Yacullo（2009）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耳罩式：250/500/1k = 30/20/10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插入式：10/10/0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有傳導成分：0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聽力學 Bing 測驗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個別測量（原書建議）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耳機覆蓋 NTE、不給噪音重測骨導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 = 未閉塞 − 閉塞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≤ 1000 Hz 各頻率執行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 隨頻率不同、個體差異大、傳導性病變時不存在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課堂演練｜6 分鐘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計算下列三種情境之初始遮蔽量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NTE AC 15 dB HL，氣導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NTE AC 40 dB HL，骨導 500 Hz，OE 20 dB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同 (b)，但 NTE 有 30 dB 氣骨導差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88920" y="160020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高原法與過度遮蔽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分鐘｜本單元重點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3383280"/>
            <a:ext cx="8442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初始遮蔽量之判讀與高原法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最佳化遮蔽法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過度遮蔽、最大遮蔽量與遮蔽兩難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初始遮蔽量之判讀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≤ 5 dB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原閾值確由測試耳聽得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已受遮蔽仍聽得到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記為遮蔽閾值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該頻率完成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&gt; 5 dB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原閾值可能由 NTE 聽得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被遮蔽後就聽不到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真實閾值尚未得知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進入高原法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例：未遮蔽 40；加 IML 後 40 或 45 → 確認；50 → 高原法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高原法之三個區段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Hood（1960）；亦稱閾值移動法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2909" y="2377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92909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遮蔽不足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噪音增加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閾值一對一上升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60138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5808" y="2377440"/>
            <a:ext cx="640080" cy="640080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580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60138" y="315468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97298" y="374904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噪音增加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閾值維持不變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＝真實閾值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43037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58706" y="2377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5870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43037" y="315468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過度遮蔽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80197" y="374904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噪音再增加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閾值再度上升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高原法範例：測試耳閾值隨噪音量之變化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原書 Fig. 9.7，縱軸為測試耳閾值（dB HL）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2011680"/>
          <a:ext cx="1063721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高原寬度之臨床要求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51128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15–20 dB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60120" y="3611880"/>
            <a:ext cx="47471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可接受為有效遮蔽閾值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之最小高原寬度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1588" y="2194560"/>
            <a:ext cx="51128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plateau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84468" y="3611880"/>
            <a:ext cx="47471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確無高原時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於聽力圖註記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使高原變窄之四項因素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212986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2986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耳間衰減較小，噪音較易跨至測試耳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99854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99854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BC_T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測試耳骨導較佳，跨越之噪音較易遮蔽之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3867226"/>
            <a:ext cx="484632" cy="484632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86722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74904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ABG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374904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非測試耳有氣骨導差，須用較高噪音量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61772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473590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73590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61772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461772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骨導遮蔽時閉塞效應較大，須用較高噪音量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5521604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兩耳皆有氣骨導差時最為嚴重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最佳化遮蔽法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Turner（2004）：兩耳 AC 相差 ≥ 25 dB，測較差耳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HL_T − 10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50 − 10 = 40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233090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6554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6554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閾值移動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16554" y="3200400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→ 75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3714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25 dB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72404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5868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噪音加同量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55868" y="3200400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+ 25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65 dB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711717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95181" y="2194560"/>
            <a:ext cx="2419274" cy="2377440"/>
          </a:xfrm>
          <a:prstGeom prst="roundRect">
            <a:avLst>
              <a:gd name="adj" fmla="val 4615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5181" y="2468880"/>
            <a:ext cx="2419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閾值不變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95181" y="3200400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 dB HL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32341" y="37033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確認真實閾值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比傳統高原法所需重測次數更少</a:t>
            </a:r>
            <a:endParaRPr lang="en-US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過度遮蔽之條件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MN_N ≥ IA + BC_T + MEMC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例：IA 50、BC_T 30 → 80 dB 時噪音僅「聽得到」，85 dB HL 起方真正遮蔽測試耳。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最大遮蔽量（MML）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MML = (IA + BC_T + MEMC) − 5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例：最低過度遮蔽量 80 dB HL → MML 75 dB HL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初始遮蔽量即過度遮蔽之情境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遮蔽左耳骨導（左 BC 10 dB HL），噪音送右耳（AC 50）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2316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 65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+ 5 + 10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60138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242316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 55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97298" y="301752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 40 + BC_T 10 + MEMC 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43037" y="210312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3037" y="242316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≥ 55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80197" y="3017520"/>
            <a:ext cx="29970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已過度遮蔽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氣導較測試耳差時特別常見</a:t>
            </a:r>
            <a:endParaRPr lang="en-US" sz="2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重要提醒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不宜未經嘗試即註記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Could not mask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 使閾值移動時，應自較低之噪音量起尋找高原；確無高原方註記 no plateau，此註記方具實證依據。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遮蔽兩難（Naunton, 1960）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兩耳皆有約 55 dB 氣骨導差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 1000 Hz 氣導 55 dB HL，骨導 0 dB HL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遮蔽右耳之 IML = 55 + 5 + 10 = 70 dB HL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噪音跨至左耳蝸，左耳氣、骨導皆移動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846320"/>
            <a:ext cx="10637215" cy="914400"/>
          </a:xfrm>
          <a:prstGeom prst="roundRect">
            <a:avLst>
              <a:gd name="adj" fmla="val 12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84632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左耳閾值移動是有效遮蔽，還是過度遮蔽？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課堂演練｜8 分鐘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三組各算一題，再交叉核對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BC_T 20、IA 40：過度遮蔽起點與 MML？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最佳化法：TE AC 70，IML 後閾值 85，下一噪音量？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前述 IML 65 之情境改用插入式（IA 70），是否過度遮蔽？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中間休息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</a:t>
            </a:r>
            <a:endParaRPr lang="en-US" sz="6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88920" y="160020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特殊情境之遮蔽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834640" y="2606040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分鐘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34640" y="3383280"/>
            <a:ext cx="8442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骨導遮蔽之擺位與檢查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插入式耳機與 SAL 測驗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閾上純音與語音測驗之遮蔽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骨導遮蔽之擺位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212986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2986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震動器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置於測試耳乳突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99854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99854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戴上送遮蔽噪音之耳機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3867226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86722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74904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 耳機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374904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不覆蓋，置於耳朵與眼睛之間之頭側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617720"/>
            <a:ext cx="10637215" cy="721004"/>
          </a:xfrm>
          <a:prstGeom prst="roundRect">
            <a:avLst>
              <a:gd name="adj" fmla="val 1521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4735906"/>
            <a:ext cx="484632" cy="484632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73590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617720"/>
            <a:ext cx="1371600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4617720"/>
            <a:ext cx="8214055" cy="72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刻意擺法、保持不動、滑動立即告知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5521604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換耳時擺位對調</a:t>
            </a:r>
            <a:endParaRPr lang="en-US" sz="2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戴上耳機後重測未遮蔽骨導之兩項目的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3E8E9C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≤ 1000 Hz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求閉塞效應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即聽力學 Bing 測驗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 加入骨導 IML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70168" y="2011680"/>
            <a:ext cx="5044288" cy="777240"/>
          </a:xfrm>
          <a:prstGeom prst="roundRect">
            <a:avLst>
              <a:gd name="adj" fmla="val 11765"/>
            </a:avLst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0168" y="201168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1000 Hz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98768" y="29260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檢查震動器是否移位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1648" y="3703320"/>
            <a:ext cx="43127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頻率愈高愈佳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閾值不應比原本差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低頻之 OE 可能掩蓋放置問題</a:t>
            </a:r>
            <a:endParaRPr lang="en-US" sz="2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插入式耳機於臨床遮蔽之優點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2909" y="2286000"/>
            <a:ext cx="640080" cy="640080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92909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增加 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平均超過 70 dB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氣導需遮蔽之情形少見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60138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58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60138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 OE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98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骨導遮蔽所需噪音較低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43037" y="2011680"/>
            <a:ext cx="3271418" cy="3108960"/>
          </a:xfrm>
          <a:prstGeom prst="roundRect">
            <a:avLst>
              <a:gd name="adj" fmla="val 35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8706" y="22860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870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3037" y="306324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減少過度遮蔽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80197" y="3657600"/>
            <a:ext cx="29970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跨至測試耳之噪音較少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SAL 測驗：骨導 ＝ 預期移動 − 實際移動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 50 dB HL，前額骨導噪音之預期移動 55 dB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60120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傳導性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55 dB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60138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4643018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感音性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5 dB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43037" y="2194560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8325917" y="361188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混合性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 35 dB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單位：推估骨導閾值 dB HL</a:t>
            </a:r>
            <a:endParaRPr lang="en-US" sz="2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A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閾上純音測驗之遮蔽時機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P_T − BC_N ≥ 40 dB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例：右 AC 40、左 BC 10，以 TDT 60 dB HL 施測 → 50 dB，須遮蔽</a:t>
            </a:r>
            <a:endParaRPr lang="en-US" sz="2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閾上測驗遮蔽量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MNN = P_T − IA + ABG_N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MEMC + SF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062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P_T − IA 為跨至 NTE 耳蝸之強度；再補償 NTE 之氣骨導差。計算後仍須檢查過度遮蔽。</a:t>
            </a:r>
            <a:endParaRPr lang="en-US" sz="2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語音聽力檢查之遮蔽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675467"/>
          </a:xfrm>
          <a:prstGeom prst="roundRect">
            <a:avLst>
              <a:gd name="adj" fmla="val 16245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2107098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07098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1371600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8214055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S_T − IA ≥ BC_N（IA 取 40 或 45，BC_N 取最佳純音骨導）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825496"/>
            <a:ext cx="10637215" cy="675467"/>
          </a:xfrm>
          <a:prstGeom prst="roundRect">
            <a:avLst>
              <a:gd name="adj" fmla="val 16245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920914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92091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825496"/>
            <a:ext cx="1371600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825496"/>
            <a:ext cx="8214055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IML = SRT_N + MEMC + SF；移動 ≥ 10 dB 用高原法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639312"/>
            <a:ext cx="10637215" cy="675467"/>
          </a:xfrm>
          <a:prstGeom prst="roundRect">
            <a:avLst>
              <a:gd name="adj" fmla="val 16245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3734730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73473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639312"/>
            <a:ext cx="1371600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辨識測驗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3639312"/>
            <a:ext cx="8214055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MNN 公式，P_T 改為語音呈現強度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453128"/>
            <a:ext cx="10637215" cy="675467"/>
          </a:xfrm>
          <a:prstGeom prst="roundRect">
            <a:avLst>
              <a:gd name="adj" fmla="val 16245"/>
            </a:avLst>
          </a:prstGeom>
          <a:solidFill>
            <a:srgbClr val="FCEAE0"/>
          </a:solidFill>
          <a:ln w="12700">
            <a:solidFill>
              <a:srgbClr val="FCE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" y="4548546"/>
            <a:ext cx="484632" cy="484632"/>
          </a:xfrm>
          <a:prstGeom prst="ellipse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54854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453128"/>
            <a:ext cx="1371600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經驗法則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4453128"/>
            <a:ext cx="8214055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NTE 噪音 ＝ 語音呈現強度 − 20 dB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77240" y="5266944"/>
            <a:ext cx="10637215" cy="675467"/>
          </a:xfrm>
          <a:prstGeom prst="roundRect">
            <a:avLst>
              <a:gd name="adj" fmla="val 16245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" y="5362362"/>
            <a:ext cx="484632" cy="48463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5362362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266944"/>
            <a:ext cx="1371600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骨導語音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017520" y="5266944"/>
            <a:ext cx="8214055" cy="67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 平均 6 dB（乳突），個人可達 20 dB</a:t>
            </a:r>
            <a:endParaRPr lang="en-US" sz="1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臨床遮蔽流程總覽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未遮蔽 AC/BC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兩耳全部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685227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8691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8691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骨導判斷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5851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ABG ≥ 15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76678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0142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0142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Bing＋IML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97302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過度遮蔽核對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068129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593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593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氣導判斷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88753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AOBG ≥ 40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259580" y="3255264"/>
            <a:ext cx="246888" cy="256032"/>
          </a:xfrm>
          <a:prstGeom prst="rightArrow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3044" y="2194560"/>
            <a:ext cx="1871411" cy="2377440"/>
          </a:xfrm>
          <a:prstGeom prst="roundRect">
            <a:avLst>
              <a:gd name="adj" fmla="val 5863"/>
            </a:avLst>
          </a:prstGeom>
          <a:solidFill>
            <a:srgbClr val="E9F1F3"/>
          </a:solidFill>
          <a:ln w="12700">
            <a:solidFill>
              <a:srgbClr val="3E8E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43044" y="2468880"/>
            <a:ext cx="1871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高原或確認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80204" y="3703320"/>
            <a:ext cx="15970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記錄遮蔽符號</a:t>
            </a:r>
            <a:endParaRPr lang="en-US" sz="1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公式速查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205740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5740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ABG_T ≥ 15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500552" y="205740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00552" y="205740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AC_T − BC_N ≥ 40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23864" y="205740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3864" y="205740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HL_N + MEMC + SF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947175" y="205740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47175" y="205740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OE（骨導）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 + BC_T + MEMC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00552" y="333756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0552" y="333756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MML：再減 5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23864" y="333756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3864" y="333756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HL_T − 10（最佳化）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47175" y="3337560"/>
            <a:ext cx="2467280" cy="960120"/>
          </a:xfrm>
          <a:prstGeom prst="roundRect">
            <a:avLst>
              <a:gd name="adj" fmla="val 1142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7175" y="3337560"/>
            <a:ext cx="246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 − 20 dB</a:t>
            </a:r>
            <a:endParaRPr lang="en-US" sz="1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64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案例研討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林女士，58 歲，國小教師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右耳悶塞感兩個月、自聲增強，點耳藥水無效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 AC 40–50、左 AC 10–20、未遮蔽 BC 5–15 dB HL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左耳 Bing：500 Hz OE 15 dB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希望「不要戴那個吵的東西，快一點做完」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846320"/>
            <a:ext cx="10637215" cy="914400"/>
          </a:xfrm>
          <a:prstGeom prst="roundRect">
            <a:avLst>
              <a:gd name="adj" fmla="val 12000"/>
            </a:avLst>
          </a:prstGeom>
          <a:solidFill>
            <a:srgbClr val="1B6274"/>
          </a:solidFill>
          <a:ln w="12700">
            <a:solidFill>
              <a:srgbClr val="1B62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84632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哪些頻率須遮蔽？500 Hz 骨導 IML 為何？應如何回應個案？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E8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本單元結語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256032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遮蔽之目的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在確認測得之閾值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確實屬於測試耳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4663440"/>
            <a:ext cx="1463040" cy="45720"/>
          </a:xfrm>
          <a:prstGeom prst="rect">
            <a:avLst/>
          </a:prstGeom>
          <a:solidFill>
            <a:srgbClr val="D9642A"/>
          </a:solidFill>
          <a:ln w="12700">
            <a:solidFill>
              <a:srgbClr val="D96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2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本單元結束｜提問與討論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臨床遮蔽原則與實作</dc:title>
  <dc:subject>PptxGenJS Presentation</dc:subject>
  <dc:creator>PptxGenJS</dc:creator>
  <cp:lastModifiedBy>PptxGenJS</cp:lastModifiedBy>
  <cp:revision>1</cp:revision>
  <dcterms:created xsi:type="dcterms:W3CDTF">2026-10-24T06:10:53Z</dcterms:created>
  <dcterms:modified xsi:type="dcterms:W3CDTF">2026-10-24T06:10:53Z</dcterms:modified>
</cp:coreProperties>
</file>